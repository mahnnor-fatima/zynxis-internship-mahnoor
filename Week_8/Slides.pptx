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2F37"/>
    <a:srgbClr val="B0A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92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E2761"/>
                </a:solidFill>
                <a:latin typeface="Arial"/>
              </a:rPr>
              <a:t>Test Set Metrics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Set Score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0.69</c:v>
                </c:pt>
                <c:pt idx="1">
                  <c:v>0.746</c:v>
                </c:pt>
                <c:pt idx="2">
                  <c:v>0.75800000000000001</c:v>
                </c:pt>
                <c:pt idx="3">
                  <c:v>0.752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DF-40AD-BE9F-062DDE5994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endParaRPr lang="en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endParaRPr lang="en-PK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6527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45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13724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71093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03656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12272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28203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83191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69137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5463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71842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32480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575150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51808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30735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19409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19209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5748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0474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643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>
          <a:gsLst>
            <a:gs pos="100000">
              <a:schemeClr val="accent4">
                <a:lumMod val="56000"/>
                <a:lumOff val="44000"/>
              </a:schemeClr>
            </a:gs>
            <a:gs pos="73000">
              <a:schemeClr val="bg2">
                <a:lumMod val="38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ZYNXIS FINAL CAPSTONE</a:t>
            </a:r>
            <a:endParaRPr 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96383" y="2735917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 Performance Predictor</a:t>
            </a:r>
            <a:endParaRPr lang="en-US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machine learning system for predicting intern success</a:t>
            </a:r>
            <a:endParaRPr lang="en-US" sz="18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035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Syeda Mahnoor Fatima  •  Zynxis Internship Program  •  Week 8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>
          <a:gsLst>
            <a:gs pos="100000">
              <a:schemeClr val="accent4">
                <a:lumMod val="56000"/>
                <a:lumOff val="44000"/>
              </a:schemeClr>
            </a:gs>
            <a:gs pos="73000">
              <a:schemeClr val="bg2">
                <a:lumMod val="38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29543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67184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Zynxis tracks rich performance data on every intern — but deciding who's on track to succeed still relies on manual review.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87680" y="3465333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predict, from measurable metrics, whether an intern will become a high performer — giving coordinators an early, data-driven signal to guide mentorship.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376524" y="663547"/>
            <a:ext cx="5327796" cy="5051453"/>
          </a:xfrm>
          <a:prstGeom prst="roundRect">
            <a:avLst>
              <a:gd name="adj" fmla="val 2449"/>
            </a:avLst>
          </a:prstGeom>
          <a:gradFill flip="none" rotWithShape="0">
            <a:gsLst>
              <a:gs pos="89080">
                <a:schemeClr val="bg2">
                  <a:lumMod val="38000"/>
                  <a:alpha val="0"/>
                </a:schemeClr>
              </a:gs>
              <a:gs pos="72000">
                <a:schemeClr val="accent4">
                  <a:lumMod val="56000"/>
                  <a:lumOff val="44000"/>
                  <a:alpha val="32000"/>
                </a:schemeClr>
              </a:gs>
              <a:gs pos="61000">
                <a:schemeClr val="bg2">
                  <a:lumMod val="38000"/>
                  <a:alpha val="0"/>
                </a:schemeClr>
              </a:gs>
            </a:gsLst>
            <a:path path="circle">
              <a:fillToRect l="100000" t="100000"/>
            </a:path>
            <a:tileRect/>
          </a:gradFill>
          <a:ln/>
        </p:spPr>
        <p:txBody>
          <a:bodyPr/>
          <a:lstStyle/>
          <a:p>
            <a:endParaRPr lang="en-PK" dirty="0"/>
          </a:p>
        </p:txBody>
      </p:sp>
      <p:sp>
        <p:nvSpPr>
          <p:cNvPr id="6" name="Text 4"/>
          <p:cNvSpPr txBox="1"/>
          <p:nvPr/>
        </p:nvSpPr>
        <p:spPr>
          <a:xfrm>
            <a:off x="6949440" y="1508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track per intern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49440" y="2130552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 txBox="1"/>
          <p:nvPr/>
        </p:nvSpPr>
        <p:spPr>
          <a:xfrm>
            <a:off x="7178040" y="20299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Score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949440" y="2606040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 txBox="1"/>
          <p:nvPr/>
        </p:nvSpPr>
        <p:spPr>
          <a:xfrm>
            <a:off x="7178040" y="25054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Completion Rate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949440" y="3081528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 txBox="1"/>
          <p:nvPr/>
        </p:nvSpPr>
        <p:spPr>
          <a:xfrm>
            <a:off x="7178040" y="298094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Punctuality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949440" y="3557016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 txBox="1"/>
          <p:nvPr/>
        </p:nvSpPr>
        <p:spPr>
          <a:xfrm>
            <a:off x="7178040" y="3456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Skills Rating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949440" y="4032504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 txBox="1"/>
          <p:nvPr/>
        </p:nvSpPr>
        <p:spPr>
          <a:xfrm>
            <a:off x="7178040" y="3931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Score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949440" y="4507992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 txBox="1"/>
          <p:nvPr/>
        </p:nvSpPr>
        <p:spPr>
          <a:xfrm>
            <a:off x="7178040" y="44074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Experience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949440" y="4983480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 txBox="1"/>
          <p:nvPr/>
        </p:nvSpPr>
        <p:spPr>
          <a:xfrm>
            <a:off x="7178040" y="488289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Level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>
          <a:gsLst>
            <a:gs pos="27500">
              <a:srgbClr val="BCA887"/>
            </a:gs>
            <a:gs pos="0">
              <a:schemeClr val="accent4">
                <a:lumMod val="56000"/>
                <a:lumOff val="44000"/>
              </a:schemeClr>
            </a:gs>
            <a:gs pos="84000">
              <a:schemeClr val="bg2">
                <a:lumMod val="38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&amp; Preparation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37160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 txBox="1"/>
          <p:nvPr/>
        </p:nvSpPr>
        <p:spPr>
          <a:xfrm>
            <a:off x="457200" y="138988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9933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records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1280160"/>
            <a:ext cx="137160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 txBox="1"/>
          <p:nvPr/>
        </p:nvSpPr>
        <p:spPr>
          <a:xfrm>
            <a:off x="2011680" y="138988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19933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1280160"/>
            <a:ext cx="137160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 txBox="1"/>
          <p:nvPr/>
        </p:nvSpPr>
        <p:spPr>
          <a:xfrm>
            <a:off x="3566160" y="138988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19933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1280160"/>
            <a:ext cx="137160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 txBox="1"/>
          <p:nvPr/>
        </p:nvSpPr>
        <p:spPr>
          <a:xfrm>
            <a:off x="5120640" y="138988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62/38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19933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steps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429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 </a:t>
            </a: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_Level (drop_first)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3931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6 numeric features (fit on train only)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49148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434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train/test split (seed=42)</a:t>
            </a:r>
            <a:endParaRPr lang="en-US" dirty="0"/>
          </a:p>
        </p:txBody>
      </p:sp>
      <p:pic>
        <p:nvPicPr>
          <p:cNvPr id="22" name="Image 0" descr="assets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280160"/>
            <a:ext cx="5212080" cy="4480560"/>
          </a:xfrm>
          <a:prstGeom prst="rect">
            <a:avLst/>
          </a:prstGeom>
          <a:gradFill>
            <a:gsLst>
              <a:gs pos="68000">
                <a:srgbClr val="8D877B"/>
              </a:gs>
              <a:gs pos="100000">
                <a:schemeClr val="accent4">
                  <a:lumMod val="56000"/>
                  <a:lumOff val="44000"/>
                  <a:alpha val="64000"/>
                </a:schemeClr>
              </a:gs>
              <a:gs pos="41000">
                <a:schemeClr val="bg2">
                  <a:lumMod val="38000"/>
                  <a:alpha val="57000"/>
                </a:schemeClr>
              </a:gs>
            </a:gsLst>
            <a:path path="circle">
              <a:fillToRect l="100000" t="100000"/>
            </a:path>
          </a:gradFill>
        </p:spPr>
      </p:pic>
      <p:sp>
        <p:nvSpPr>
          <p:cNvPr id="23" name="Text 20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>
          <a:gsLst>
            <a:gs pos="40000">
              <a:srgbClr val="8D877B"/>
            </a:gs>
            <a:gs pos="100000">
              <a:schemeClr val="accent4">
                <a:lumMod val="56000"/>
                <a:lumOff val="44000"/>
              </a:schemeClr>
            </a:gs>
            <a:gs pos="73000">
              <a:schemeClr val="bg2">
                <a:lumMod val="38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 txBox="1"/>
          <p:nvPr/>
        </p:nvSpPr>
        <p:spPr>
          <a:xfrm>
            <a:off x="822960" y="1554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Classifier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its ability to capture non-linear interactions between features and its built-in, interpretable feature importance scores.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3703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4160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617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4617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0760" y="1280160"/>
            <a:ext cx="5623560" cy="4480560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 txBox="1"/>
          <p:nvPr/>
        </p:nvSpPr>
        <p:spPr>
          <a:xfrm>
            <a:off x="644652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evaluated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baseline linear model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560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Decision Tree — prone to overfitting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2918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won on both accuracy and interpretability, so it's the model deployed in the final app.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>
          <a:gsLst>
            <a:gs pos="40000">
              <a:srgbClr val="8D877B"/>
            </a:gs>
            <a:gs pos="100000">
              <a:schemeClr val="accent4">
                <a:lumMod val="56000"/>
                <a:lumOff val="44000"/>
              </a:schemeClr>
            </a:gs>
            <a:gs pos="73000">
              <a:schemeClr val="bg2">
                <a:lumMod val="38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Results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80160"/>
          <a:ext cx="57607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 0" descr="assets_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280160"/>
            <a:ext cx="5303520" cy="42062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00800" y="5532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= 0.71 — well above the 0.50 random baseline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>
          <a:gsLst>
            <a:gs pos="40000">
              <a:srgbClr val="8D877B"/>
            </a:gs>
            <a:gs pos="100000">
              <a:schemeClr val="accent4">
                <a:lumMod val="56000"/>
                <a:lumOff val="44000"/>
              </a:schemeClr>
            </a:gs>
            <a:gs pos="73000">
              <a:schemeClr val="bg2">
                <a:lumMod val="38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Prediction?</a:t>
            </a:r>
            <a:endParaRPr lang="en-US" sz="3600" dirty="0"/>
          </a:p>
        </p:txBody>
      </p:sp>
      <p:pic>
        <p:nvPicPr>
          <p:cNvPr id="3" name="Image 0" descr="assets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6949440" cy="4480560"/>
          </a:xfrm>
          <a:prstGeom prst="rect">
            <a:avLst/>
          </a:prstGeom>
          <a:solidFill>
            <a:srgbClr val="B0A999"/>
          </a:solidFill>
        </p:spPr>
      </p:pic>
      <p:sp>
        <p:nvSpPr>
          <p:cNvPr id="4" name="Shape 1"/>
          <p:cNvSpPr/>
          <p:nvPr/>
        </p:nvSpPr>
        <p:spPr>
          <a:xfrm>
            <a:off x="7680960" y="1234440"/>
            <a:ext cx="4023360" cy="4480560"/>
          </a:xfrm>
          <a:prstGeom prst="roundRect">
            <a:avLst>
              <a:gd name="adj" fmla="val 2727"/>
            </a:avLst>
          </a:prstGeom>
          <a:solidFill>
            <a:srgbClr val="B0A9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2"/>
          <p:cNvSpPr txBox="1"/>
          <p:nvPr/>
        </p:nvSpPr>
        <p:spPr>
          <a:xfrm>
            <a:off x="804672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011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722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Score and Code Review Score together drive roughly half of the model's decisions.</a:t>
            </a:r>
            <a:endParaRPr lang="en-US" dirty="0">
              <a:solidFill>
                <a:srgbClr val="722F37"/>
              </a:solidFill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046720" y="32004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722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Level barely matters — the model rewards demonstrated performance over credentials, a fair outcome for an evaluation tool.</a:t>
            </a:r>
            <a:endParaRPr lang="en-US" dirty="0">
              <a:solidFill>
                <a:srgbClr val="722F37"/>
              </a:solidFill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gradFill>
          <a:gsLst>
            <a:gs pos="40000">
              <a:srgbClr val="8D877B"/>
            </a:gs>
            <a:gs pos="100000">
              <a:schemeClr val="accent4">
                <a:lumMod val="56000"/>
                <a:lumOff val="44000"/>
              </a:schemeClr>
            </a:gs>
            <a:gs pos="73000">
              <a:schemeClr val="bg2">
                <a:lumMod val="38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 Interface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web app lets a coordinator enter an intern's metrics and get an instant, explainable prediction.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2267712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verdict + probability + plain-language “why”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2816352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Prediction: upload a CSV, screen a whole cohort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3364992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 txBox="1"/>
          <p:nvPr/>
        </p:nvSpPr>
        <p:spPr>
          <a:xfrm>
            <a:off x="777240" y="3246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Comparison: RF vs. Logistic Regression vs. Tree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3913632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 txBox="1"/>
          <p:nvPr/>
        </p:nvSpPr>
        <p:spPr>
          <a:xfrm>
            <a:off x="777240" y="3794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Importance: interactive chart of what matters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8463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 — runs locally or on Streamlit Community Cloud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1188720"/>
            <a:ext cx="5303520" cy="5029200"/>
          </a:xfrm>
          <a:prstGeom prst="roundRect">
            <a:avLst>
              <a:gd name="adj" fmla="val 2182"/>
            </a:avLst>
          </a:prstGeom>
          <a:solidFill>
            <a:schemeClr val="bg1">
              <a:lumMod val="65000"/>
            </a:schemeClr>
          </a:solidFill>
          <a:ln/>
        </p:spPr>
        <p:txBody>
          <a:bodyPr/>
          <a:lstStyle/>
          <a:p>
            <a:endParaRPr lang="en-PK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1417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Zynxis Intern Performance Predictor</a:t>
            </a:r>
            <a:endParaRPr lang="en-US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720840" y="2240280"/>
            <a:ext cx="4663440" cy="822960"/>
          </a:xfrm>
          <a:prstGeom prst="roundRect">
            <a:avLst>
              <a:gd name="adj" fmla="val 8889"/>
            </a:avLst>
          </a:prstGeom>
          <a:solidFill>
            <a:srgbClr val="B0A999"/>
          </a:solidFill>
          <a:ln/>
        </p:spPr>
        <p:txBody>
          <a:bodyPr/>
          <a:lstStyle/>
          <a:p>
            <a:endParaRPr lang="en-PK" dirty="0"/>
          </a:p>
        </p:txBody>
      </p:sp>
      <p:sp>
        <p:nvSpPr>
          <p:cNvPr id="16" name="Text 14"/>
          <p:cNvSpPr txBox="1"/>
          <p:nvPr/>
        </p:nvSpPr>
        <p:spPr>
          <a:xfrm>
            <a:off x="6934200" y="239172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22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High Performer / Likely to be Placed</a:t>
            </a:r>
            <a:endParaRPr lang="en-US" sz="1300" dirty="0">
              <a:solidFill>
                <a:srgbClr val="722F37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751320" y="3337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22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Probability</a:t>
            </a:r>
            <a:endParaRPr lang="en-US" sz="1600" dirty="0">
              <a:solidFill>
                <a:srgbClr val="722F37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751320" y="3634659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3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3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793668" y="4266242"/>
            <a:ext cx="4663440" cy="164592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/>
        </p:spPr>
        <p:txBody>
          <a:bodyPr/>
          <a:lstStyle/>
          <a:p>
            <a:endParaRPr lang="en-PK" dirty="0"/>
          </a:p>
        </p:txBody>
      </p:sp>
      <p:sp>
        <p:nvSpPr>
          <p:cNvPr id="20" name="Shape 18"/>
          <p:cNvSpPr/>
          <p:nvPr/>
        </p:nvSpPr>
        <p:spPr>
          <a:xfrm>
            <a:off x="6720840" y="4266242"/>
            <a:ext cx="4251960" cy="164592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PK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>
          <a:gsLst>
            <a:gs pos="40000">
              <a:srgbClr val="8D877B"/>
            </a:gs>
            <a:gs pos="100000">
              <a:schemeClr val="accent4">
                <a:lumMod val="56000"/>
                <a:lumOff val="44000"/>
              </a:schemeClr>
            </a:gs>
            <a:gs pos="73000">
              <a:schemeClr val="bg2">
                <a:lumMod val="38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B0A999"/>
          </a:solidFill>
          <a:ln/>
        </p:spPr>
        <p:txBody>
          <a:bodyPr/>
          <a:lstStyle/>
          <a:p>
            <a:endParaRPr lang="en-PK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08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22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2000" dirty="0">
              <a:solidFill>
                <a:srgbClr val="722F37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Modest dataset size (500 records)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5062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69% accuracy — supports, doesn't replace, human judgment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8127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Weaker recall (58%) on the “Needs Support” class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309360" y="128016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B0A9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 txBox="1"/>
          <p:nvPr/>
        </p:nvSpPr>
        <p:spPr>
          <a:xfrm>
            <a:off x="6675120" y="1508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22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</a:t>
            </a:r>
            <a:r>
              <a:rPr lang="en-US" sz="24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>
                <a:solidFill>
                  <a:srgbClr val="722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improvements</a:t>
            </a:r>
            <a:endParaRPr lang="en-US" sz="2400" dirty="0">
              <a:solidFill>
                <a:srgbClr val="722F37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0" y="20116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Larger dataset + class-weighting or SMOTE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77749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SHAP-based explanations per prediction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5890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 CSV upload to screen a full cohort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>
          <a:gsLst>
            <a:gs pos="39000">
              <a:srgbClr val="5E676F"/>
            </a:gs>
            <a:gs pos="6000">
              <a:srgbClr val="8D877B"/>
            </a:gs>
            <a:gs pos="100000">
              <a:schemeClr val="accent4">
                <a:lumMod val="63000"/>
              </a:schemeClr>
            </a:gs>
            <a:gs pos="73000">
              <a:schemeClr val="bg2">
                <a:lumMod val="38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722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</a:t>
            </a: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8000" b="1" dirty="0">
                <a:solidFill>
                  <a:srgbClr val="722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</a:t>
            </a:r>
            <a:endParaRPr lang="en-US" sz="8000" dirty="0">
              <a:solidFill>
                <a:srgbClr val="722F37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35204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722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pipeline — data, model, evaluation, and a deployed app — giving Zynxis a data-backed signal for intern success.</a:t>
            </a:r>
            <a:endParaRPr lang="en-US" sz="2000" dirty="0">
              <a:solidFill>
                <a:srgbClr val="722F3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22</TotalTime>
  <Words>481</Words>
  <Application>Microsoft Office PowerPoint</Application>
  <PresentationFormat>Widescreen</PresentationFormat>
  <Paragraphs>91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Tw Cen MT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Mahnoor Fatima</cp:lastModifiedBy>
  <cp:revision>2</cp:revision>
  <dcterms:created xsi:type="dcterms:W3CDTF">2026-09-15T05:58:28Z</dcterms:created>
  <dcterms:modified xsi:type="dcterms:W3CDTF">2026-09-15T10:11:10Z</dcterms:modified>
</cp:coreProperties>
</file>